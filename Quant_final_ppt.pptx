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9"/>
  </p:notesMasterIdLst>
  <p:handoutMasterIdLst>
    <p:handoutMasterId r:id="rId20"/>
  </p:handoutMasterIdLst>
  <p:sldIdLst>
    <p:sldId id="277" r:id="rId4"/>
    <p:sldId id="399" r:id="rId5"/>
    <p:sldId id="400" r:id="rId6"/>
    <p:sldId id="401" r:id="rId7"/>
    <p:sldId id="402" r:id="rId8"/>
    <p:sldId id="403" r:id="rId9"/>
    <p:sldId id="409" r:id="rId10"/>
    <p:sldId id="410" r:id="rId11"/>
    <p:sldId id="414" r:id="rId12"/>
    <p:sldId id="412" r:id="rId13"/>
    <p:sldId id="413" r:id="rId14"/>
    <p:sldId id="405" r:id="rId15"/>
    <p:sldId id="406" r:id="rId16"/>
    <p:sldId id="407" r:id="rId17"/>
    <p:sldId id="41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man kumar" initials="S" lastIdx="1" clrIdx="0">
    <p:extLst>
      <p:ext uri="{19B8F6BF-5375-455C-9EA6-DF929625EA0E}">
        <p15:presenceInfo xmlns:p15="http://schemas.microsoft.com/office/powerpoint/2012/main" userId="S::22BIT70027@cuchd.in::89cfdcea-6e82-4db2-b6dc-a0298fbdda2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ED8137"/>
    <a:srgbClr val="BC8F00"/>
    <a:srgbClr val="86000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799" autoAdjust="0"/>
    <p:restoredTop sz="94660" autoAdjust="0"/>
  </p:normalViewPr>
  <p:slideViewPr>
    <p:cSldViewPr snapToGrid="0">
      <p:cViewPr varScale="1">
        <p:scale>
          <a:sx n="82" d="100"/>
          <a:sy n="82" d="100"/>
        </p:scale>
        <p:origin x="114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commentAuthors" Target="comment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arxiv.org/abs/2301.09535" TargetMode="External"/><Relationship Id="rId2" Type="http://schemas.openxmlformats.org/officeDocument/2006/relationships/hyperlink" Target="https://arxiv.org/pdf/2407.06421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5892" y="1850059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BACHELOR OF ENGINEERING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  <a:latin typeface="Bradley Hand ITC" panose="03070402050302030203" pitchFamily="66" charset="0"/>
              </a:rPr>
              <a:t> </a:t>
            </a:r>
            <a:r>
              <a:rPr lang="en-US" sz="2400" i="1" dirty="0">
                <a:solidFill>
                  <a:srgbClr val="000000"/>
                </a:solidFill>
              </a:rPr>
              <a:t>IN</a:t>
            </a: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COMPUTER SCIENCE ENGINEERING </a:t>
            </a:r>
            <a:br>
              <a:rPr lang="en-US" sz="2400" i="1" dirty="0">
                <a:solidFill>
                  <a:srgbClr val="000000"/>
                </a:solidFill>
              </a:rPr>
            </a:br>
            <a:r>
              <a:rPr lang="en-US" sz="2400" i="1" dirty="0">
                <a:solidFill>
                  <a:srgbClr val="000000"/>
                </a:solidFill>
              </a:rPr>
              <a:t>specialization in Internet Of Things</a:t>
            </a:r>
          </a:p>
          <a:p>
            <a:pPr algn="ctr">
              <a:lnSpc>
                <a:spcPct val="150000"/>
              </a:lnSpc>
            </a:pPr>
            <a:endParaRPr lang="en-US" sz="2400" i="1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5780" y="635635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509042" y="6356350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761330" y="175200"/>
            <a:ext cx="837327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200" b="1" u="sng" dirty="0"/>
              <a:t>Solving Combinatorial Puzzles with Quantum Variational Algorithms</a:t>
            </a:r>
            <a:endParaRPr lang="en-US" sz="3200" b="1" u="sng" dirty="0">
              <a:latin typeface="+mn-lt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49716" y="4783050"/>
            <a:ext cx="338906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Anurag Pushkar (22BIT70030)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Lakshay Yadav (22BIT70026)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Nishant Kumar(22BIT70021)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Nitin Yadav (22BIT70028)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2917" y="5244937"/>
            <a:ext cx="33339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 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Ankur Sharma (E13693)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pPr algn="ctr"/>
            <a:r>
              <a:rPr lang="en-US" b="1" u="sng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220"/>
            <a:ext cx="10515600" cy="495225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Project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 requirement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to be used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3197"/>
            <a:ext cx="10515600" cy="94580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latin typeface="Agency FB" panose="020B0503020202020204" pitchFamily="34" charset="0"/>
                <a:cs typeface="Times New Roman" panose="02020603050405020304" pitchFamily="18" charset="0"/>
              </a:rPr>
              <a:t>Introduction to </a:t>
            </a:r>
            <a:r>
              <a:rPr lang="en-IN" b="1" u="sng" dirty="0">
                <a:latin typeface="Agency FB" panose="020B0503020202020204" pitchFamily="34" charset="0"/>
              </a:rPr>
              <a:t>Combinatorial Puzzles with Quantum Variational Algorithms</a:t>
            </a:r>
            <a:endParaRPr lang="en-US" b="1" u="sng" dirty="0">
              <a:latin typeface="Agency FB" panose="020B0503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363" y="1231641"/>
            <a:ext cx="11411339" cy="5489834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b="1" dirty="0"/>
              <a:t>Combinatorial puzzles like Sudoku, N-Queens, and Graph Coloring are computationally </a:t>
            </a:r>
            <a:r>
              <a:rPr lang="en-US" sz="2400" b="1" dirty="0">
                <a:highlight>
                  <a:srgbClr val="FFFF00"/>
                </a:highlight>
              </a:rPr>
              <a:t>hard</a:t>
            </a:r>
            <a:r>
              <a:rPr lang="en-US" sz="2400" b="1" dirty="0"/>
              <a:t> problems (NP-complete). Classical algorithms often become </a:t>
            </a:r>
            <a:r>
              <a:rPr lang="en-US" sz="2400" b="1" dirty="0">
                <a:highlight>
                  <a:srgbClr val="FFFF00"/>
                </a:highlight>
              </a:rPr>
              <a:t>inefficient</a:t>
            </a:r>
            <a:r>
              <a:rPr lang="en-US" sz="2400" b="1" dirty="0"/>
              <a:t> as problem </a:t>
            </a:r>
            <a:r>
              <a:rPr lang="en-US" sz="2400" b="1" dirty="0">
                <a:highlight>
                  <a:srgbClr val="FFFF00"/>
                </a:highlight>
              </a:rPr>
              <a:t>sizes increase</a:t>
            </a:r>
            <a:r>
              <a:rPr lang="en-US" sz="2400" b="1" dirty="0"/>
              <a:t>.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IN" b="1" dirty="0"/>
              <a:t>Why It’s Important?</a:t>
            </a:r>
          </a:p>
          <a:p>
            <a:r>
              <a:rPr lang="en-IN" sz="2400" b="1" dirty="0"/>
              <a:t>Quantum–Classical Hybrid Methods</a:t>
            </a:r>
            <a:r>
              <a:rPr lang="en-IN" sz="2400" dirty="0"/>
              <a:t> combine the strengths of both computing paradigms.</a:t>
            </a:r>
          </a:p>
          <a:p>
            <a:r>
              <a:rPr lang="en-IN" sz="2400" b="1" dirty="0"/>
              <a:t>Quantum Variational Algorithms (VQAs)</a:t>
            </a:r>
            <a:r>
              <a:rPr lang="en-IN" sz="2400" dirty="0"/>
              <a:t>, such as </a:t>
            </a:r>
            <a:r>
              <a:rPr lang="en-IN" sz="2400" b="1" dirty="0"/>
              <a:t>QAOA</a:t>
            </a:r>
            <a:r>
              <a:rPr lang="en-IN" sz="2400" dirty="0"/>
              <a:t> and </a:t>
            </a:r>
            <a:r>
              <a:rPr lang="en-IN" sz="2400" b="1" dirty="0"/>
              <a:t>VQE</a:t>
            </a:r>
            <a:r>
              <a:rPr lang="en-IN" sz="2400" dirty="0"/>
              <a:t>, efficiently explore large solution spaces.</a:t>
            </a:r>
          </a:p>
          <a:p>
            <a:r>
              <a:rPr lang="en-IN" sz="2400" dirty="0"/>
              <a:t>Enable </a:t>
            </a:r>
            <a:r>
              <a:rPr lang="en-IN" sz="2400" b="1" dirty="0"/>
              <a:t>faster optimization</a:t>
            </a:r>
            <a:r>
              <a:rPr lang="en-IN" sz="2400" dirty="0"/>
              <a:t> and </a:t>
            </a:r>
            <a:r>
              <a:rPr lang="en-IN" sz="2400" b="1" dirty="0"/>
              <a:t>potential quantum advantage</a:t>
            </a:r>
            <a:r>
              <a:rPr lang="en-IN" sz="2400" dirty="0"/>
              <a:t> for difficult combinatorial tasks.</a:t>
            </a:r>
          </a:p>
          <a:p>
            <a:r>
              <a:rPr lang="en-IN" sz="2400" dirty="0"/>
              <a:t>Can provide </a:t>
            </a:r>
            <a:r>
              <a:rPr lang="en-IN" sz="2400" b="1" dirty="0"/>
              <a:t>approximate solutions</a:t>
            </a:r>
            <a:r>
              <a:rPr lang="en-IN" sz="2400" dirty="0"/>
              <a:t> with reduced computation time compared to classical methods.</a:t>
            </a:r>
          </a:p>
          <a:p>
            <a:r>
              <a:rPr lang="en-IN" sz="2400" dirty="0"/>
              <a:t>Represent a </a:t>
            </a:r>
            <a:r>
              <a:rPr lang="en-IN" sz="2400" b="1" dirty="0"/>
              <a:t>promising direction</a:t>
            </a:r>
            <a:r>
              <a:rPr lang="en-IN" sz="2400" dirty="0"/>
              <a:t> for solving real-world optimization and decision problems.</a:t>
            </a:r>
          </a:p>
          <a:p>
            <a:pPr marL="0" indent="0" algn="just">
              <a:buNone/>
            </a:pPr>
            <a:endParaRPr lang="en-US" sz="2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983148"/>
          </a:xfrm>
        </p:spPr>
        <p:txBody>
          <a:bodyPr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289F5F5-796A-05C4-7A95-81864E4C7D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0388" y="644616"/>
            <a:ext cx="11024172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Objective: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Efficiently solve complex combinatorial puzzles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Sudoku, N-Queens, Graph Coloring)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quantum–classical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hybrid approaches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Challenge: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These puzzles involve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exponentially large search spaces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Classical algorithms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(backtracking, constraint satisfaction, heuristics)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become inefficient as size increases.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 the puzzle into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quantum optimization problem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 possible solutions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quantum states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Variational Quantum Algorithms (VQAs)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QAOA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VQE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low-energy (optimal) solutions.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Achieve faster convergence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better approximations than classical solvers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NP-hard combinatorial problems.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20471"/>
          </a:xfrm>
        </p:spPr>
        <p:txBody>
          <a:bodyPr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539" y="1306286"/>
            <a:ext cx="10915261" cy="5261567"/>
          </a:xfrm>
        </p:spPr>
        <p:txBody>
          <a:bodyPr>
            <a:normAutofit/>
          </a:bodyPr>
          <a:lstStyle/>
          <a:p>
            <a:r>
              <a:rPr lang="en-IN" dirty="0"/>
              <a:t>To explore </a:t>
            </a:r>
            <a:r>
              <a:rPr lang="en-IN" b="1" dirty="0">
                <a:highlight>
                  <a:srgbClr val="FFFF00"/>
                </a:highlight>
              </a:rPr>
              <a:t>Quantum Variational Algorithms </a:t>
            </a:r>
            <a:r>
              <a:rPr lang="en-IN" b="1" dirty="0"/>
              <a:t>(VQAs)</a:t>
            </a:r>
            <a:r>
              <a:rPr lang="en-IN" dirty="0"/>
              <a:t> — </a:t>
            </a:r>
            <a:r>
              <a:rPr lang="en-IN" b="1" dirty="0"/>
              <a:t>QAOA</a:t>
            </a:r>
            <a:r>
              <a:rPr lang="en-IN" dirty="0"/>
              <a:t> and </a:t>
            </a:r>
            <a:r>
              <a:rPr lang="en-IN" b="1" dirty="0"/>
              <a:t>VQE</a:t>
            </a:r>
            <a:r>
              <a:rPr lang="en-IN" dirty="0"/>
              <a:t> — for solving combinatorial puzzles.</a:t>
            </a:r>
          </a:p>
          <a:p>
            <a:r>
              <a:rPr lang="en-IN" dirty="0"/>
              <a:t>To </a:t>
            </a:r>
            <a:r>
              <a:rPr lang="en-IN" b="1" dirty="0"/>
              <a:t>formulate combinatorial problems</a:t>
            </a:r>
            <a:r>
              <a:rPr lang="en-IN" dirty="0"/>
              <a:t> (Sudoku, N-Queens, Graph </a:t>
            </a:r>
            <a:r>
              <a:rPr lang="en-IN" dirty="0" err="1"/>
              <a:t>Coloring</a:t>
            </a:r>
            <a:r>
              <a:rPr lang="en-IN" dirty="0"/>
              <a:t>) as </a:t>
            </a:r>
            <a:r>
              <a:rPr lang="en-IN" b="1" dirty="0"/>
              <a:t>quantum optimization tasks</a:t>
            </a:r>
            <a:r>
              <a:rPr lang="en-IN" dirty="0"/>
              <a:t>.</a:t>
            </a:r>
          </a:p>
          <a:p>
            <a:r>
              <a:rPr lang="en-IN" dirty="0"/>
              <a:t>To </a:t>
            </a:r>
            <a:r>
              <a:rPr lang="en-IN" b="1" dirty="0" err="1">
                <a:highlight>
                  <a:srgbClr val="FFFF00"/>
                </a:highlight>
              </a:rPr>
              <a:t>analyze</a:t>
            </a:r>
            <a:r>
              <a:rPr lang="en-IN" b="1" dirty="0">
                <a:highlight>
                  <a:srgbClr val="FFFF00"/>
                </a:highlight>
              </a:rPr>
              <a:t> and compare</a:t>
            </a:r>
            <a:r>
              <a:rPr lang="en-IN" dirty="0"/>
              <a:t> the efficiency of quantum–classical hybrid methods with classical algorithms.</a:t>
            </a:r>
          </a:p>
          <a:p>
            <a:r>
              <a:rPr lang="en-IN" dirty="0"/>
              <a:t>To demonstrate how </a:t>
            </a:r>
            <a:r>
              <a:rPr lang="en-IN" b="1" dirty="0"/>
              <a:t>quantum approaches</a:t>
            </a:r>
            <a:r>
              <a:rPr lang="en-IN" dirty="0"/>
              <a:t> can provide </a:t>
            </a:r>
            <a:r>
              <a:rPr lang="en-IN" b="1" dirty="0">
                <a:highlight>
                  <a:srgbClr val="FFFF00"/>
                </a:highlight>
              </a:rPr>
              <a:t>faster</a:t>
            </a:r>
            <a:r>
              <a:rPr lang="en-IN" b="1" dirty="0"/>
              <a:t> or more scalable</a:t>
            </a:r>
            <a:r>
              <a:rPr lang="en-IN" dirty="0"/>
              <a:t> solutions.</a:t>
            </a:r>
          </a:p>
          <a:p>
            <a:r>
              <a:rPr lang="en-IN" dirty="0"/>
              <a:t>To contribute toward the </a:t>
            </a:r>
            <a:r>
              <a:rPr lang="en-IN" b="1" dirty="0"/>
              <a:t>practical application of quantum computing</a:t>
            </a:r>
            <a:r>
              <a:rPr lang="en-IN" dirty="0"/>
              <a:t> in NP-hard problem domains.</a:t>
            </a:r>
          </a:p>
          <a:p>
            <a:pPr marL="0" indent="0" algn="just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92479"/>
          </a:xfrm>
        </p:spPr>
        <p:txBody>
          <a:bodyPr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DC8D446-9174-549F-475B-06FCBFFE2C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20838"/>
            <a:ext cx="988289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Operating System: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(Windows 10/11, Linux (Ubuntu), or macOS for compatibility with quantum SDKs.)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3.x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primary language for implementing and testing VQAs.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Quantum Computing Frameworks / SDKs: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Qiskit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building, simulating, and executing quantum circuits on IBM Quantum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Cirq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alternative framework for Google Quantum processors.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PennyLane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hybrid quantum–classical optimization and integration with ML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Optimization and Scientific Libraries: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numerical computations and optimization routines.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 / Seaborn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result visualization and performance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representing puzzles like graph coloring as graph structures.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Environment: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interactive coding, visualization, and experiment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 Code / PyCharm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larger project management and debugging.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Access Tools: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Quantum Experience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Braket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executing circuits on real quantum hardware.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0B0F-8075-6B9B-2407-413A824AC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92479"/>
          </a:xfrm>
        </p:spPr>
        <p:txBody>
          <a:bodyPr/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Quantum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2BF0C-D81C-D9D7-BE5A-D3DC38FB3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522" y="1203650"/>
            <a:ext cx="10859278" cy="4534677"/>
          </a:xfrm>
        </p:spPr>
        <p:txBody>
          <a:bodyPr>
            <a:normAutofit lnSpcReduction="10000"/>
          </a:bodyPr>
          <a:lstStyle/>
          <a:p>
            <a:pPr marL="457200" lvl="1" indent="0" algn="just">
              <a:buNone/>
            </a:pPr>
            <a:endParaRPr lang="en-US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/>
              <a:t>Although theoretical and small-scale empirical results of quantum methods are more promising, </a:t>
            </a:r>
            <a:r>
              <a:rPr lang="en-US" dirty="0">
                <a:highlight>
                  <a:srgbClr val="FFFF00"/>
                </a:highlight>
              </a:rPr>
              <a:t>the quantum methods are not yet practical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Static schedules of parameters (fixed circuit depth and non-adaptive choice of angles) </a:t>
            </a:r>
            <a:r>
              <a:rPr lang="en-US" dirty="0">
                <a:highlight>
                  <a:srgbClr val="FFFF00"/>
                </a:highlight>
              </a:rPr>
              <a:t>tend to get stuck</a:t>
            </a:r>
            <a:r>
              <a:rPr lang="en-US" dirty="0"/>
              <a:t> in barren plateaus/local minima, in particular </a:t>
            </a:r>
            <a:r>
              <a:rPr lang="en-US" dirty="0">
                <a:highlight>
                  <a:srgbClr val="FFFF00"/>
                </a:highlight>
              </a:rPr>
              <a:t>as the instance size increases</a:t>
            </a:r>
            <a:r>
              <a:rPr lang="en-US" dirty="0"/>
              <a:t>. The current quantum computer, or Qu computer, firmware has some limitations and their numbers are limited to NISQ constraints: a limited qubit count, finite coherence time and gate-induced errors restrict the accessible circuit depth and so the expressivity and size of the solved problems.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D87ED-C537-6EFB-25BB-669DF997A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8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DF903-5040-8909-E9ED-AEBCC481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321"/>
            <a:ext cx="10515600" cy="982536"/>
          </a:xfrm>
        </p:spPr>
        <p:txBody>
          <a:bodyPr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D371A-8614-0383-6B78-EC317F6D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B2BBEF-563B-2A1C-CF6E-DF1020157F4D}"/>
              </a:ext>
            </a:extLst>
          </p:cNvPr>
          <p:cNvSpPr/>
          <p:nvPr/>
        </p:nvSpPr>
        <p:spPr>
          <a:xfrm>
            <a:off x="2093976" y="5202936"/>
            <a:ext cx="3182112" cy="521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225373E-42DD-7CF7-4FED-9F3F6AE11D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558212"/>
            <a:ext cx="11812849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Selection &amp; Formulation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Select combinatorial puzzles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Sudoku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N-Queens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 Coloring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Express each puzzle as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constraint satisfaction or optimization problem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constraints into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Hamiltonian (cost function)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form suitable for quantum optimization.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 / Input Generation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predefined puzzle datasets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problem instances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programmatically.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 problem parameters (e.g., board size, graph nodes, constraints) in matrix or binary 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external real-world data required — data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synthetic and structured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puzzle definitions.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 Implementation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Implement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Quantum Variational Algorithms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(VQAs)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QAOA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VQE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Qiskit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PennyLane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 problem Hamiltonians to quantum circuits.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classical optimizers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COBYLA, SPSA, or Adam) for parameter tuning in the hybrid loop.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810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791F5-5FB0-4772-CF18-C6EBF56B5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2632B-0FC5-6231-CF98-526DFFFB8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321"/>
            <a:ext cx="10515600" cy="982536"/>
          </a:xfrm>
        </p:spPr>
        <p:txBody>
          <a:bodyPr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AB66E-01BB-A66B-0A4A-282D5557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69C506-8AB4-2727-E947-AAD351BCE3D6}"/>
              </a:ext>
            </a:extLst>
          </p:cNvPr>
          <p:cNvSpPr/>
          <p:nvPr/>
        </p:nvSpPr>
        <p:spPr>
          <a:xfrm>
            <a:off x="2093976" y="5202936"/>
            <a:ext cx="3182112" cy="521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563074-0E28-8825-FBCC-271996934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520237"/>
            <a:ext cx="10896600" cy="4320726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Simulation &amp; Execution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highlight>
                  <a:srgbClr val="FFFF00"/>
                </a:highlight>
                <a:latin typeface="Arial" panose="020B0604020202020204" pitchFamily="34" charset="0"/>
              </a:rPr>
              <a:t>Run experiments on </a:t>
            </a:r>
            <a:r>
              <a:rPr lang="en-US" altLang="en-US" b="1" dirty="0">
                <a:highlight>
                  <a:srgbClr val="FFFF00"/>
                </a:highlight>
                <a:latin typeface="Arial" panose="020B0604020202020204" pitchFamily="34" charset="0"/>
              </a:rPr>
              <a:t>quantum simulators</a:t>
            </a:r>
            <a:r>
              <a:rPr lang="en-US" altLang="en-US" dirty="0"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(not real hardware).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Perform multiple runs to compare results and evaluate convergence behavior.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Performance Evaluation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highlight>
                  <a:srgbClr val="FFFF00"/>
                </a:highlight>
                <a:latin typeface="Arial" panose="020B0604020202020204" pitchFamily="34" charset="0"/>
              </a:rPr>
              <a:t>Analyze</a:t>
            </a:r>
            <a:r>
              <a:rPr lang="en-US" altLang="en-US" dirty="0">
                <a:latin typeface="Arial" panose="020B0604020202020204" pitchFamily="34" charset="0"/>
              </a:rPr>
              <a:t> solution quality (number of satisfied constraints or minimum energy).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highlight>
                  <a:srgbClr val="FFFF00"/>
                </a:highlight>
                <a:latin typeface="Arial" panose="020B0604020202020204" pitchFamily="34" charset="0"/>
              </a:rPr>
              <a:t>Compare</a:t>
            </a:r>
            <a:r>
              <a:rPr lang="en-US" altLang="en-US" dirty="0">
                <a:latin typeface="Arial" panose="020B0604020202020204" pitchFamily="34" charset="0"/>
              </a:rPr>
              <a:t> quantum–classical hybrid results with </a:t>
            </a:r>
            <a:r>
              <a:rPr lang="en-US" altLang="en-US" b="1" dirty="0">
                <a:latin typeface="Arial" panose="020B0604020202020204" pitchFamily="34" charset="0"/>
              </a:rPr>
              <a:t>classical algorithms</a:t>
            </a:r>
            <a:r>
              <a:rPr lang="en-US" altLang="en-US" dirty="0">
                <a:latin typeface="Arial" panose="020B0604020202020204" pitchFamily="34" charset="0"/>
              </a:rPr>
              <a:t> (e.g., backtracking or heuristic solvers).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Visualize performance metrics using plots and graphs.</a:t>
            </a:r>
          </a:p>
          <a:p>
            <a:pPr algn="just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315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1B5F7-38E9-FF4D-B9E9-49FA6898D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112"/>
            <a:ext cx="10515600" cy="960438"/>
          </a:xfrm>
        </p:spPr>
        <p:txBody>
          <a:bodyPr/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C3A29-ADB0-B45E-329C-3CAC804E5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08" y="1240971"/>
            <a:ext cx="10924592" cy="5115379"/>
          </a:xfrm>
        </p:spPr>
        <p:txBody>
          <a:bodyPr>
            <a:noAutofit/>
          </a:bodyPr>
          <a:lstStyle/>
          <a:p>
            <a:r>
              <a:rPr lang="en-IN" sz="2000" b="1" dirty="0"/>
              <a:t>Combinatorial Problems:</a:t>
            </a:r>
            <a:br>
              <a:rPr lang="en-IN" sz="2000" dirty="0"/>
            </a:br>
            <a:r>
              <a:rPr lang="en-IN" sz="2000" dirty="0"/>
              <a:t>Studies highlight that </a:t>
            </a:r>
            <a:r>
              <a:rPr lang="en-IN" sz="2000" dirty="0">
                <a:highlight>
                  <a:srgbClr val="FFFF00"/>
                </a:highlight>
              </a:rPr>
              <a:t>puzzles</a:t>
            </a:r>
            <a:r>
              <a:rPr lang="en-IN" sz="2000" dirty="0"/>
              <a:t> like </a:t>
            </a:r>
            <a:r>
              <a:rPr lang="en-IN" sz="2000" b="1" dirty="0"/>
              <a:t>Sudoku</a:t>
            </a:r>
            <a:r>
              <a:rPr lang="en-IN" sz="2000" dirty="0"/>
              <a:t>, </a:t>
            </a:r>
            <a:r>
              <a:rPr lang="en-IN" sz="2000" b="1" dirty="0"/>
              <a:t>N-Queens</a:t>
            </a:r>
            <a:r>
              <a:rPr lang="en-IN" sz="2000" dirty="0"/>
              <a:t>, and </a:t>
            </a:r>
            <a:r>
              <a:rPr lang="en-IN" sz="2000" b="1" dirty="0"/>
              <a:t>Graph </a:t>
            </a:r>
            <a:r>
              <a:rPr lang="en-IN" sz="2000" b="1" dirty="0" err="1"/>
              <a:t>Coloring</a:t>
            </a:r>
            <a:r>
              <a:rPr lang="en-IN" sz="2000" dirty="0"/>
              <a:t> are </a:t>
            </a:r>
            <a:r>
              <a:rPr lang="en-IN" sz="2000" b="1" dirty="0"/>
              <a:t>NP-complete</a:t>
            </a:r>
            <a:r>
              <a:rPr lang="en-IN" sz="2000" dirty="0"/>
              <a:t>, </a:t>
            </a:r>
            <a:r>
              <a:rPr lang="en-IN" sz="2000" dirty="0">
                <a:highlight>
                  <a:srgbClr val="FFFF00"/>
                </a:highlight>
              </a:rPr>
              <a:t>making</a:t>
            </a:r>
            <a:r>
              <a:rPr lang="en-IN" sz="2000" dirty="0"/>
              <a:t> </a:t>
            </a:r>
            <a:r>
              <a:rPr lang="en-IN" sz="2000" dirty="0">
                <a:highlight>
                  <a:srgbClr val="FFFF00"/>
                </a:highlight>
              </a:rPr>
              <a:t>classical algorithms inefficient</a:t>
            </a:r>
            <a:r>
              <a:rPr lang="en-IN" sz="2000" dirty="0"/>
              <a:t> for </a:t>
            </a:r>
            <a:r>
              <a:rPr lang="en-IN" sz="2000" dirty="0">
                <a:highlight>
                  <a:srgbClr val="FFFF00"/>
                </a:highlight>
              </a:rPr>
              <a:t>large </a:t>
            </a:r>
            <a:r>
              <a:rPr lang="en-IN" sz="2000" dirty="0"/>
              <a:t>instances.</a:t>
            </a:r>
          </a:p>
          <a:p>
            <a:r>
              <a:rPr lang="en-IN" sz="2000" b="1" dirty="0"/>
              <a:t>Quantum Approaches:</a:t>
            </a:r>
            <a:br>
              <a:rPr lang="en-IN" sz="2000" dirty="0"/>
            </a:br>
            <a:r>
              <a:rPr lang="en-IN" sz="2000" dirty="0"/>
              <a:t>Research shows that </a:t>
            </a:r>
            <a:r>
              <a:rPr lang="en-IN" sz="2000" b="1" dirty="0"/>
              <a:t>Quantum Approximate Optimization Algorithm (QAOA)</a:t>
            </a:r>
            <a:r>
              <a:rPr lang="en-IN" sz="2000" dirty="0"/>
              <a:t> and </a:t>
            </a:r>
            <a:r>
              <a:rPr lang="en-IN" sz="2000" b="1" dirty="0"/>
              <a:t>Variational Quantum </a:t>
            </a:r>
            <a:r>
              <a:rPr lang="en-IN" sz="2000" b="1" dirty="0" err="1"/>
              <a:t>Eigensolver</a:t>
            </a:r>
            <a:r>
              <a:rPr lang="en-IN" sz="2000" b="1" dirty="0"/>
              <a:t> (VQE)</a:t>
            </a:r>
            <a:r>
              <a:rPr lang="en-IN" sz="2000" dirty="0"/>
              <a:t> can address optimization problems by mapping them to </a:t>
            </a:r>
            <a:r>
              <a:rPr lang="en-IN" sz="2000" b="1" dirty="0"/>
              <a:t>Ising Hamiltonians</a:t>
            </a:r>
            <a:r>
              <a:rPr lang="en-IN" sz="2000" dirty="0"/>
              <a:t>.</a:t>
            </a:r>
          </a:p>
          <a:p>
            <a:r>
              <a:rPr lang="en-IN" sz="2000" b="1" dirty="0"/>
              <a:t>Hybrid Quantum-Classical Methods:</a:t>
            </a:r>
            <a:br>
              <a:rPr lang="en-IN" sz="2000" dirty="0"/>
            </a:br>
            <a:r>
              <a:rPr lang="en-IN" sz="2000" dirty="0"/>
              <a:t>Works by Farhi et al. (2014) and </a:t>
            </a:r>
            <a:r>
              <a:rPr lang="en-IN" sz="2000" dirty="0" err="1"/>
              <a:t>Peruzzo</a:t>
            </a:r>
            <a:r>
              <a:rPr lang="en-IN" sz="2000" dirty="0"/>
              <a:t> et al. (2014) introduced QAOA and VQE as </a:t>
            </a:r>
            <a:r>
              <a:rPr lang="en-IN" sz="2000" b="1" dirty="0"/>
              <a:t>variational quantum algorithms</a:t>
            </a:r>
            <a:r>
              <a:rPr lang="en-IN" sz="2000" dirty="0"/>
              <a:t>, combining quantum state preparation with classical parameter optimization.</a:t>
            </a:r>
          </a:p>
          <a:p>
            <a:r>
              <a:rPr lang="en-IN" sz="2000" b="1" dirty="0"/>
              <a:t>Applications:</a:t>
            </a:r>
            <a:br>
              <a:rPr lang="en-IN" sz="2000" dirty="0"/>
            </a:br>
            <a:r>
              <a:rPr lang="en-IN" sz="2000" dirty="0"/>
              <a:t>Recent studies demonstrate the use of QAOA and VQE in </a:t>
            </a:r>
            <a:r>
              <a:rPr lang="en-IN" sz="2000" b="1" dirty="0"/>
              <a:t>graph </a:t>
            </a:r>
            <a:r>
              <a:rPr lang="en-IN" sz="2000" b="1" dirty="0" err="1"/>
              <a:t>coloring</a:t>
            </a:r>
            <a:r>
              <a:rPr lang="en-IN" sz="2000" dirty="0"/>
              <a:t>, </a:t>
            </a:r>
            <a:r>
              <a:rPr lang="en-IN" sz="2000" b="1" dirty="0"/>
              <a:t>Max-Cut</a:t>
            </a:r>
            <a:r>
              <a:rPr lang="en-IN" sz="2000" dirty="0"/>
              <a:t>, and </a:t>
            </a:r>
            <a:r>
              <a:rPr lang="en-IN" sz="2000" b="1" dirty="0"/>
              <a:t>constraint satisfaction</a:t>
            </a:r>
            <a:r>
              <a:rPr lang="en-IN" sz="2000" dirty="0"/>
              <a:t> problems, </a:t>
            </a:r>
            <a:r>
              <a:rPr lang="en-IN" sz="2000" dirty="0">
                <a:highlight>
                  <a:srgbClr val="FFFF00"/>
                </a:highlight>
              </a:rPr>
              <a:t>showing improved scalability </a:t>
            </a:r>
            <a:r>
              <a:rPr lang="en-IN" sz="2000" dirty="0"/>
              <a:t>on quantum simulators.</a:t>
            </a:r>
          </a:p>
          <a:p>
            <a:r>
              <a:rPr lang="en-IN" sz="2000" b="1" dirty="0"/>
              <a:t>Gap Identified:</a:t>
            </a:r>
            <a:br>
              <a:rPr lang="en-IN" sz="2000" dirty="0"/>
            </a:br>
            <a:r>
              <a:rPr lang="en-IN" sz="2000" dirty="0"/>
              <a:t>Limited research applies these quantum algorithms specifically to </a:t>
            </a:r>
            <a:r>
              <a:rPr lang="en-IN" sz="2000" b="1" dirty="0"/>
              <a:t>combinatorial puzzles</a:t>
            </a:r>
            <a:r>
              <a:rPr lang="en-IN" sz="2000" dirty="0"/>
              <a:t>, motivating exploration in this area.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18C7A-9DB4-0CF2-D3D1-834A5D870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79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F5CEA-8297-B7EF-45D2-4DF24E978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1001810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038C7-7535-926D-9DEB-6D85D986F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6879" y="3867569"/>
            <a:ext cx="3602601" cy="29216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AquaSentinel's Contribution:​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fully integrated solution combining AIoT sensing, cloud storage/analytics, and AI-driven anomaly detection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end-to-end intelligence from data collection to predictive management insights                                                             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41C06-DA94-FF01-3C9F-0DE66C5E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136AB-62E6-03CC-730D-B6C8F13AC507}"/>
              </a:ext>
            </a:extLst>
          </p:cNvPr>
          <p:cNvSpPr txBox="1"/>
          <p:nvPr/>
        </p:nvSpPr>
        <p:spPr>
          <a:xfrm>
            <a:off x="7329109" y="3376336"/>
            <a:ext cx="3088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Figure: Latency vs Model Type</a:t>
            </a:r>
            <a:endParaRPr lang="en-IN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Can Quantum Solve AI's Energy Problem? | CMC Markets">
            <a:extLst>
              <a:ext uri="{FF2B5EF4-FFF2-40B4-BE49-F238E27FC236}">
                <a16:creationId xmlns:a16="http://schemas.microsoft.com/office/drawing/2014/main" id="{D705FD63-D16F-11A8-06A4-99F3A0D0A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78" y="3429001"/>
            <a:ext cx="5609050" cy="329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Quantum computing: What leaders need to know now | MIT Sloan">
            <a:extLst>
              <a:ext uri="{FF2B5EF4-FFF2-40B4-BE49-F238E27FC236}">
                <a16:creationId xmlns:a16="http://schemas.microsoft.com/office/drawing/2014/main" id="{88CDE2EE-58BC-9140-672D-4950A3C9F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674" y="3429000"/>
            <a:ext cx="5474583" cy="282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C9399B-44BB-5A5A-5063-213801FDAEB0}"/>
              </a:ext>
            </a:extLst>
          </p:cNvPr>
          <p:cNvSpPr txBox="1"/>
          <p:nvPr/>
        </p:nvSpPr>
        <p:spPr>
          <a:xfrm>
            <a:off x="718457" y="1245626"/>
            <a:ext cx="106353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Despite impressive progress in quantum algorithms, much of today’s research still lives in a </a:t>
            </a:r>
            <a:r>
              <a:rPr lang="en-US" i="1" dirty="0"/>
              <a:t>“quantum promise land”</a:t>
            </a:r>
            <a:r>
              <a:rPr lang="en-US" dirty="0"/>
              <a:t> — rich in theory but waiting for hardware to catch up. While </a:t>
            </a:r>
            <a:r>
              <a:rPr lang="en-US" b="1" dirty="0"/>
              <a:t>quantum computing</a:t>
            </a:r>
            <a:r>
              <a:rPr lang="en-US" dirty="0"/>
              <a:t> continues to make headlines, the practical realization of large-scale, fault-tolerant systems remains more </a:t>
            </a:r>
            <a:r>
              <a:rPr lang="en-US" i="1" dirty="0"/>
              <a:t>aspirational than operational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B2A11B-F880-6F0E-1260-BAD627DC2A38}"/>
              </a:ext>
            </a:extLst>
          </p:cNvPr>
          <p:cNvSpPr txBox="1"/>
          <p:nvPr/>
        </p:nvSpPr>
        <p:spPr>
          <a:xfrm>
            <a:off x="2536059" y="2368499"/>
            <a:ext cx="63992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In other words, quantum advantage looks great on paper, but in practice, it tends to vanish faster than we can actually build the hardware to run it.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35423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98314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43D8A53-B46F-F9C3-F0CA-0EBA899540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7225" y="1015636"/>
            <a:ext cx="9937336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Combinatorial puzzles like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Sudoku, N-Queens, and Graph Coloring</a:t>
            </a:r>
            <a:r>
              <a:rPr lang="en-US" altLang="en-US" sz="2300" dirty="0">
                <a:latin typeface="Arial" panose="020B0604020202020204" pitchFamily="34" charset="0"/>
              </a:rPr>
              <a:t> 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computationally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challenging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(NP-complete)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classical solutions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300" dirty="0">
                <a:highlight>
                  <a:srgbClr val="FFFF00"/>
                </a:highlight>
                <a:latin typeface="Arial" panose="020B0604020202020204" pitchFamily="34" charset="0"/>
              </a:rPr>
              <a:t> I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nefficient 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large instances.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Quantum-Classical Hybrid Methods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especially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QAOA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300" dirty="0">
                <a:latin typeface="Arial" panose="020B0604020202020204" pitchFamily="34" charset="0"/>
              </a:rPr>
              <a:t>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VQE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provide a promising approach to tackle these problems by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300" dirty="0">
                <a:highlight>
                  <a:srgbClr val="FFFF00"/>
                </a:highlight>
                <a:latin typeface="Arial" panose="020B0604020202020204" pitchFamily="34" charset="0"/>
              </a:rPr>
              <a:t>C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ombining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quantum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exploration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classical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optimization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Simulation 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results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indicate that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quantum variational algorithms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produce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competitive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300" b="1" dirty="0">
                <a:latin typeface="Arial" panose="020B0604020202020204" pitchFamily="34" charset="0"/>
              </a:rPr>
              <a:t>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faster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approximate solutions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compared to classical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quantum computing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hardware is still evolving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hybrid algorithms allow us to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experiment and learn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about potential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300" dirty="0">
                <a:latin typeface="Arial" panose="020B0604020202020204" pitchFamily="34" charset="0"/>
              </a:rPr>
              <a:t> 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quantum advantages today.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B0F0"/>
                </a:highlight>
                <a:latin typeface="Arial" panose="020B0604020202020204" pitchFamily="34" charset="0"/>
              </a:rPr>
              <a:t>Overall, this study demonstrates the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B0F0"/>
                </a:highlight>
                <a:latin typeface="Arial" panose="020B0604020202020204" pitchFamily="34" charset="0"/>
              </a:rPr>
              <a:t>practical potential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B0F0"/>
                </a:highlight>
                <a:latin typeface="Arial" panose="020B0604020202020204" pitchFamily="34" charset="0"/>
              </a:rPr>
              <a:t> of VQAs 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B0F0"/>
                </a:highlight>
                <a:latin typeface="Arial" panose="020B0604020202020204" pitchFamily="34" charset="0"/>
              </a:rPr>
              <a:t> solving complex combinatorial puzzles and sets the stage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B0F0"/>
                </a:highlight>
                <a:latin typeface="Arial" panose="020B0604020202020204" pitchFamily="34" charset="0"/>
              </a:rPr>
              <a:t> future real-hardware implementations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0465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983148"/>
          </a:xfrm>
        </p:spPr>
        <p:txBody>
          <a:bodyPr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539" y="1212980"/>
            <a:ext cx="10915261" cy="5279895"/>
          </a:xfrm>
        </p:spPr>
        <p:txBody>
          <a:bodyPr>
            <a:normAutofit/>
          </a:bodyPr>
          <a:lstStyle/>
          <a:p>
            <a:r>
              <a:rPr lang="en-IN" sz="2400" b="1" dirty="0"/>
              <a:t>Real Quantum Hardware:</a:t>
            </a:r>
            <a:r>
              <a:rPr lang="en-IN" sz="2400" dirty="0"/>
              <a:t> Test QAOA and VQE on actual quantum processors as hardware becomes more </a:t>
            </a:r>
            <a:r>
              <a:rPr lang="en-IN" sz="2400" dirty="0">
                <a:highlight>
                  <a:srgbClr val="FFFF00"/>
                </a:highlight>
              </a:rPr>
              <a:t>reliable</a:t>
            </a:r>
            <a:r>
              <a:rPr lang="en-IN" sz="2400" dirty="0"/>
              <a:t>.</a:t>
            </a:r>
          </a:p>
          <a:p>
            <a:r>
              <a:rPr lang="en-IN" sz="2400" b="1" dirty="0"/>
              <a:t>Larger Problem Instances:</a:t>
            </a:r>
            <a:r>
              <a:rPr lang="en-IN" sz="2400" dirty="0"/>
              <a:t> Extend experiments to </a:t>
            </a:r>
            <a:r>
              <a:rPr lang="en-IN" sz="2400" b="1" dirty="0"/>
              <a:t>bigger puzzles and graphs</a:t>
            </a:r>
            <a:r>
              <a:rPr lang="en-IN" sz="2400" dirty="0"/>
              <a:t> beyond the </a:t>
            </a:r>
            <a:r>
              <a:rPr lang="en-IN" sz="2400" dirty="0">
                <a:highlight>
                  <a:srgbClr val="FFFF00"/>
                </a:highlight>
              </a:rPr>
              <a:t>limits</a:t>
            </a:r>
            <a:r>
              <a:rPr lang="en-IN" sz="2400" dirty="0"/>
              <a:t> of classical simulation.</a:t>
            </a:r>
          </a:p>
          <a:p>
            <a:r>
              <a:rPr lang="en-IN" sz="2400" b="1" dirty="0"/>
              <a:t>Algorithm Improvement:</a:t>
            </a:r>
            <a:r>
              <a:rPr lang="en-IN" sz="2400" dirty="0"/>
              <a:t> Explore </a:t>
            </a:r>
            <a:r>
              <a:rPr lang="en-IN" sz="2400" b="1" dirty="0"/>
              <a:t>advanced variational algorithms</a:t>
            </a:r>
            <a:r>
              <a:rPr lang="en-IN" sz="2400" dirty="0"/>
              <a:t> and </a:t>
            </a:r>
            <a:r>
              <a:rPr lang="en-IN" sz="2400" b="1" dirty="0"/>
              <a:t>better classical optimizers</a:t>
            </a:r>
            <a:r>
              <a:rPr lang="en-IN" sz="2400" dirty="0"/>
              <a:t> to enhance solution </a:t>
            </a:r>
            <a:r>
              <a:rPr lang="en-IN" sz="2400" dirty="0">
                <a:highlight>
                  <a:srgbClr val="FFFF00"/>
                </a:highlight>
              </a:rPr>
              <a:t>quality</a:t>
            </a:r>
            <a:r>
              <a:rPr lang="en-IN" sz="2400" dirty="0"/>
              <a:t>.</a:t>
            </a:r>
          </a:p>
          <a:p>
            <a:r>
              <a:rPr lang="en-IN" sz="2400" b="1" dirty="0"/>
              <a:t>Integration with AI/ML:</a:t>
            </a:r>
            <a:r>
              <a:rPr lang="en-IN" sz="2400" dirty="0"/>
              <a:t> Combine quantum </a:t>
            </a:r>
            <a:r>
              <a:rPr lang="en-IN" sz="2400" dirty="0">
                <a:highlight>
                  <a:srgbClr val="FFFF00"/>
                </a:highlight>
              </a:rPr>
              <a:t>optimization</a:t>
            </a:r>
            <a:r>
              <a:rPr lang="en-IN" sz="2400" dirty="0"/>
              <a:t> with </a:t>
            </a:r>
            <a:r>
              <a:rPr lang="en-IN" sz="2400" b="1" dirty="0"/>
              <a:t>machine learning</a:t>
            </a:r>
            <a:r>
              <a:rPr lang="en-IN" sz="2400" dirty="0"/>
              <a:t> for adaptive problem-solving.</a:t>
            </a:r>
          </a:p>
          <a:p>
            <a:r>
              <a:rPr lang="en-IN" sz="2400" b="1" dirty="0"/>
              <a:t>Practical Applications:</a:t>
            </a:r>
            <a:r>
              <a:rPr lang="en-IN" sz="2400" dirty="0"/>
              <a:t> Apply </a:t>
            </a:r>
            <a:r>
              <a:rPr lang="en-IN" sz="2400" dirty="0">
                <a:highlight>
                  <a:srgbClr val="FFFF00"/>
                </a:highlight>
              </a:rPr>
              <a:t>hybrid</a:t>
            </a:r>
            <a:r>
              <a:rPr lang="en-IN" sz="2400" dirty="0"/>
              <a:t> quantum algorithms to </a:t>
            </a:r>
            <a:r>
              <a:rPr lang="en-IN" sz="2400" b="1" dirty="0"/>
              <a:t>real-world optimization problems</a:t>
            </a:r>
            <a:r>
              <a:rPr lang="en-IN" sz="2400" dirty="0"/>
              <a:t> in logistics, scheduling, and network design.</a:t>
            </a:r>
          </a:p>
          <a:p>
            <a:r>
              <a:rPr lang="en-IN" sz="2400" b="1" dirty="0"/>
              <a:t>Benchmarking Standards:</a:t>
            </a:r>
            <a:r>
              <a:rPr lang="en-IN" sz="2400" dirty="0"/>
              <a:t> Develop </a:t>
            </a:r>
            <a:r>
              <a:rPr lang="en-IN" sz="2400" b="1" dirty="0"/>
              <a:t>standard metrics</a:t>
            </a:r>
            <a:r>
              <a:rPr lang="en-IN" sz="2400" dirty="0"/>
              <a:t> for comparing classical vs. quantum solutions for </a:t>
            </a:r>
            <a:r>
              <a:rPr lang="en-IN" sz="2400" dirty="0">
                <a:highlight>
                  <a:srgbClr val="FFFF00"/>
                </a:highlight>
              </a:rPr>
              <a:t>combinatorial</a:t>
            </a:r>
            <a:r>
              <a:rPr lang="en-IN" sz="2400" dirty="0"/>
              <a:t> problems.</a:t>
            </a:r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28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92479"/>
          </a:xfrm>
        </p:spPr>
        <p:txBody>
          <a:bodyPr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216" y="1250302"/>
            <a:ext cx="10952584" cy="4926661"/>
          </a:xfrm>
        </p:spPr>
        <p:txBody>
          <a:bodyPr>
            <a:normAutofit fontScale="92500" lnSpcReduction="20000"/>
          </a:bodyPr>
          <a:lstStyle/>
          <a:p>
            <a:r>
              <a:rPr lang="en-IN" sz="2000" dirty="0"/>
              <a:t>[1] L. Zhou, S. T. Wang, S. Choi, H. Pichler, and M. D. Lukin, “Quantum Approximate Optimization Algorithm: Performance, Mechanism, and Implementation on Near-Term Devices,” </a:t>
            </a:r>
            <a:r>
              <a:rPr lang="en-IN" sz="2000" i="1" dirty="0"/>
              <a:t>Phys. Rev. X</a:t>
            </a:r>
            <a:r>
              <a:rPr lang="en-IN" sz="2000" dirty="0"/>
              <a:t>, vol. 10, no. 2, p. 021067, Jun. 2020, </a:t>
            </a:r>
            <a:r>
              <a:rPr lang="en-IN" sz="2000" dirty="0" err="1"/>
              <a:t>doi</a:t>
            </a:r>
            <a:r>
              <a:rPr lang="en-IN" sz="2000" dirty="0"/>
              <a:t>: 10.1103/PhysRevX.10.021067.</a:t>
            </a:r>
          </a:p>
          <a:p>
            <a:r>
              <a:rPr lang="en-IN" sz="2000" dirty="0"/>
              <a:t>[2] D. F. Perez-Ramirez, “Variational Quantum Algorithms for Combinatorial Optimization,” vol. 1, Jul. 2024. [Online]. Available: </a:t>
            </a:r>
            <a:r>
              <a:rPr lang="en-IN" sz="2000" dirty="0">
                <a:hlinkClick r:id="rId2"/>
              </a:rPr>
              <a:t>https://arxiv.org/pdf/2407.06421</a:t>
            </a:r>
            <a:r>
              <a:rPr lang="en-IN" sz="2000" dirty="0"/>
              <a:t>.</a:t>
            </a:r>
          </a:p>
          <a:p>
            <a:r>
              <a:rPr lang="en-IN" sz="2000" dirty="0"/>
              <a:t>[3] K. </a:t>
            </a:r>
            <a:r>
              <a:rPr lang="en-IN" sz="2000" dirty="0" err="1"/>
              <a:t>Blekos</a:t>
            </a:r>
            <a:r>
              <a:rPr lang="en-IN" sz="2000" dirty="0"/>
              <a:t> et al., “A Review on Quantum Approximate Optimization Algorithm and Its Variants,” </a:t>
            </a:r>
            <a:r>
              <a:rPr lang="en-IN" sz="2000" i="1" dirty="0"/>
              <a:t>Phys. Rep.</a:t>
            </a:r>
            <a:r>
              <a:rPr lang="en-IN" sz="2000" dirty="0"/>
              <a:t>, vol. 1068, pp. 1–66, Jun. 2024, </a:t>
            </a:r>
            <a:r>
              <a:rPr lang="en-IN" sz="2000" dirty="0" err="1"/>
              <a:t>doi</a:t>
            </a:r>
            <a:r>
              <a:rPr lang="en-IN" sz="2000" dirty="0"/>
              <a:t>: 10.1016/j.physrep.2024.03.002.</a:t>
            </a:r>
          </a:p>
          <a:p>
            <a:r>
              <a:rPr lang="en-IN" sz="2000" dirty="0"/>
              <a:t>[4] E. R. Anschuetz and B. T. Kiani, “Quantum Variational Algorithms Are Swamped with Traps,” </a:t>
            </a:r>
            <a:r>
              <a:rPr lang="en-IN" sz="2000" i="1" dirty="0"/>
              <a:t>Nat. Commun.</a:t>
            </a:r>
            <a:r>
              <a:rPr lang="en-IN" sz="2000" dirty="0"/>
              <a:t>, vol. 13, no. 1, pp. 1–10, Dec. 2022, </a:t>
            </a:r>
            <a:r>
              <a:rPr lang="en-IN" sz="2000" dirty="0" err="1"/>
              <a:t>doi</a:t>
            </a:r>
            <a:r>
              <a:rPr lang="en-IN" sz="2000" dirty="0"/>
              <a:t>: 10.1038/S41467-022-35364-5.</a:t>
            </a:r>
          </a:p>
          <a:p>
            <a:r>
              <a:rPr lang="en-IN" sz="2000" dirty="0"/>
              <a:t>[5] I. Cong, S. Choi, and M. D. Lukin, “Quantum Convolutional Neural Networks,” </a:t>
            </a:r>
            <a:r>
              <a:rPr lang="en-IN" sz="2000" i="1" dirty="0"/>
              <a:t>Nat. Phys.</a:t>
            </a:r>
            <a:r>
              <a:rPr lang="en-IN" sz="2000" dirty="0"/>
              <a:t>, vol. 15, no. 12, pp. 1273–1278, Dec. 2019, </a:t>
            </a:r>
            <a:r>
              <a:rPr lang="en-IN" sz="2000" dirty="0" err="1"/>
              <a:t>doi</a:t>
            </a:r>
            <a:r>
              <a:rPr lang="en-IN" sz="2000" dirty="0"/>
              <a:t>: 10.1038/S41567-019-0648-8.</a:t>
            </a:r>
          </a:p>
          <a:p>
            <a:r>
              <a:rPr lang="en-IN" sz="2000" dirty="0"/>
              <a:t>[6] A. Sturm, “Theory and Implementation of the Quantum Approximate Optimization Algorithm: A Comprehensible Introduction and Case Study Using </a:t>
            </a:r>
            <a:r>
              <a:rPr lang="en-IN" sz="2000" dirty="0" err="1"/>
              <a:t>Qiskit</a:t>
            </a:r>
            <a:r>
              <a:rPr lang="en-IN" sz="2000" dirty="0"/>
              <a:t> and IBM Quantum Computers,” Jan. 2023. [Online]. Available: </a:t>
            </a:r>
            <a:r>
              <a:rPr lang="en-IN" sz="2000" dirty="0">
                <a:hlinkClick r:id="rId3"/>
              </a:rPr>
              <a:t>http://arxiv.org/abs/2301.09535</a:t>
            </a:r>
            <a:r>
              <a:rPr lang="en-IN" sz="2000" dirty="0"/>
              <a:t>.</a:t>
            </a:r>
          </a:p>
          <a:p>
            <a:r>
              <a:rPr lang="en-IN" sz="2000" dirty="0"/>
              <a:t>[7] O. </a:t>
            </a:r>
            <a:r>
              <a:rPr lang="en-IN" sz="2000" dirty="0" err="1"/>
              <a:t>Amosy</a:t>
            </a:r>
            <a:r>
              <a:rPr lang="en-IN" sz="2000" dirty="0"/>
              <a:t>, T. Danzig, O. Lev, E. Porat, G. Chechik, and A. </a:t>
            </a:r>
            <a:r>
              <a:rPr lang="en-IN" sz="2000" dirty="0" err="1"/>
              <a:t>Makmal</a:t>
            </a:r>
            <a:r>
              <a:rPr lang="en-IN" sz="2000" dirty="0"/>
              <a:t>, “Iteration-Free Quantum Approximate Optimization Algorithm Using Neural Networks,” </a:t>
            </a:r>
            <a:r>
              <a:rPr lang="en-IN" sz="2000" i="1" dirty="0"/>
              <a:t>Quantum Mach. </a:t>
            </a:r>
            <a:r>
              <a:rPr lang="en-IN" sz="2000" i="1" dirty="0" err="1"/>
              <a:t>Intell</a:t>
            </a:r>
            <a:r>
              <a:rPr lang="en-IN" sz="2000" i="1" dirty="0"/>
              <a:t>.</a:t>
            </a:r>
            <a:r>
              <a:rPr lang="en-IN" sz="2000" dirty="0"/>
              <a:t>, vol. 6, no. 2, pp. 1–12, Dec. 2024, </a:t>
            </a:r>
            <a:r>
              <a:rPr lang="en-IN" sz="2000" dirty="0" err="1"/>
              <a:t>doi</a:t>
            </a:r>
            <a:r>
              <a:rPr lang="en-IN" sz="2000" dirty="0"/>
              <a:t>: 10.1007/S42484-024-00159-Y.</a:t>
            </a:r>
          </a:p>
          <a:p>
            <a:r>
              <a:rPr lang="en-IN" sz="2000" dirty="0"/>
              <a:t>[8] Y. Ruan, Z. Yuan, X. Xue, and Z. Liu, “Quantum Approximate Optimization for Combinatorial Problems with Constraints,” </a:t>
            </a:r>
            <a:r>
              <a:rPr lang="en-IN" sz="2000" i="1" dirty="0"/>
              <a:t>Inf. Sci. (N.Y.)</a:t>
            </a:r>
            <a:r>
              <a:rPr lang="en-IN" sz="2000" dirty="0"/>
              <a:t>, vol. 619, pp. 98–125, Jan. 2023, </a:t>
            </a:r>
            <a:r>
              <a:rPr lang="en-IN" sz="2000" dirty="0" err="1"/>
              <a:t>doi</a:t>
            </a:r>
            <a:r>
              <a:rPr lang="en-IN" sz="2000" dirty="0"/>
              <a:t>: 10.1016/J.INS.2022.11.020.</a:t>
            </a:r>
          </a:p>
          <a:p>
            <a:pPr algn="just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5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1D25F-4700-712D-5B4E-7D116419F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ED25-09F6-B824-C8FF-618265060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92479"/>
          </a:xfrm>
        </p:spPr>
        <p:txBody>
          <a:bodyPr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E386D-7D39-1EBF-971C-14139EFD6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216" y="1250302"/>
            <a:ext cx="10952584" cy="4926661"/>
          </a:xfrm>
        </p:spPr>
        <p:txBody>
          <a:bodyPr>
            <a:normAutofit/>
          </a:bodyPr>
          <a:lstStyle/>
          <a:p>
            <a:r>
              <a:rPr lang="en-IN" sz="2000" dirty="0"/>
              <a:t>[9] C. Grange, M. Poss, and E. Bourreau, “An Introduction to Variational Quantum Algorithms for Combinatorial Optimization Problems,” </a:t>
            </a:r>
            <a:r>
              <a:rPr lang="en-IN" sz="2000" i="1" dirty="0"/>
              <a:t>4OR</a:t>
            </a:r>
            <a:r>
              <a:rPr lang="en-IN" sz="2000" dirty="0"/>
              <a:t>, vol. 21, no. 3, pp. 363–403, Aug. 2024, </a:t>
            </a:r>
            <a:r>
              <a:rPr lang="en-IN" sz="2000" dirty="0" err="1"/>
              <a:t>doi</a:t>
            </a:r>
            <a:r>
              <a:rPr lang="en-IN" sz="2000" dirty="0"/>
              <a:t>: 10.1007/s10288-023-00549-1.</a:t>
            </a:r>
          </a:p>
          <a:p>
            <a:r>
              <a:rPr lang="en-IN" sz="2000" dirty="0"/>
              <a:t>[10] M. Cerezo et al., “Variational Quantum Algorithms,” </a:t>
            </a:r>
            <a:r>
              <a:rPr lang="en-IN" sz="2000" i="1" dirty="0"/>
              <a:t>Nature Reviews Physics</a:t>
            </a:r>
            <a:r>
              <a:rPr lang="en-IN" sz="2000" dirty="0"/>
              <a:t>, vol. 3, no. 9, pp. 625–644, Oct. 2021, </a:t>
            </a:r>
            <a:r>
              <a:rPr lang="en-IN" sz="2000" dirty="0" err="1"/>
              <a:t>doi</a:t>
            </a:r>
            <a:r>
              <a:rPr lang="en-IN" sz="2000" dirty="0"/>
              <a:t>: 10.1038/s42254-021-00348-9.</a:t>
            </a:r>
          </a:p>
          <a:p>
            <a:r>
              <a:rPr lang="en-IN" sz="2000" dirty="0"/>
              <a:t>[11] K. </a:t>
            </a:r>
            <a:r>
              <a:rPr lang="en-IN" sz="2000" dirty="0" err="1"/>
              <a:t>Blekos</a:t>
            </a:r>
            <a:r>
              <a:rPr lang="en-IN" sz="2000" dirty="0"/>
              <a:t> et al., “A Review on Quantum Approximate Optimization Algorithm and Its Variants,” </a:t>
            </a:r>
            <a:r>
              <a:rPr lang="en-IN" sz="2000" i="1" dirty="0"/>
              <a:t>Phys. Rep.</a:t>
            </a:r>
            <a:r>
              <a:rPr lang="en-IN" sz="2000" dirty="0"/>
              <a:t>, vol. 1068, pp. 1–66, Jun. 2024, </a:t>
            </a:r>
            <a:r>
              <a:rPr lang="en-IN" sz="2000" dirty="0" err="1"/>
              <a:t>doi</a:t>
            </a:r>
            <a:r>
              <a:rPr lang="en-IN" sz="2000" dirty="0"/>
              <a:t>: 10.1016/J.PHYSREP.2024.03.002.</a:t>
            </a:r>
          </a:p>
          <a:p>
            <a:r>
              <a:rPr lang="en-IN" sz="2000" dirty="0"/>
              <a:t>[12] O. Lockwood and M. Si, “Reinforcement Learning with Quantum Variational Circuits,” in </a:t>
            </a:r>
            <a:r>
              <a:rPr lang="en-IN" sz="2000" i="1" dirty="0"/>
              <a:t>Proceedings of the 16th AAAI Conference on Artificial Intelligence and Interactive Digital Entertainment (AIIDE 2020)</a:t>
            </a:r>
            <a:r>
              <a:rPr lang="en-IN" sz="2000" dirty="0"/>
              <a:t>, pp. 245–251, 2020, </a:t>
            </a:r>
            <a:r>
              <a:rPr lang="en-IN" sz="2000" dirty="0" err="1"/>
              <a:t>doi</a:t>
            </a:r>
            <a:r>
              <a:rPr lang="en-IN" sz="2000" dirty="0"/>
              <a:t>: 10.1609/aiide.v16i1.7437.</a:t>
            </a:r>
          </a:p>
          <a:p>
            <a:r>
              <a:rPr lang="en-IN" sz="2000" dirty="0"/>
              <a:t>[13] S. Y. Wu, Y. Q. Song, R. Z. Li, S. J. Qin, Q. Y. Wen, and F. Gao, “Resource-Efficient Adaptive Variational Quantum Algorithm for Combinatorial Optimization Problems,” </a:t>
            </a:r>
            <a:r>
              <a:rPr lang="en-IN" sz="2000" i="1" dirty="0"/>
              <a:t>Adv. Quantum Technol.</a:t>
            </a:r>
            <a:r>
              <a:rPr lang="en-IN" sz="2000" dirty="0"/>
              <a:t>, p. 2400484, 2025, </a:t>
            </a:r>
            <a:r>
              <a:rPr lang="en-IN" sz="2000" dirty="0" err="1"/>
              <a:t>doi</a:t>
            </a:r>
            <a:r>
              <a:rPr lang="en-IN" sz="2000" dirty="0"/>
              <a:t>: 10.1002/QUTE.202400484.</a:t>
            </a:r>
          </a:p>
          <a:p>
            <a:pPr marL="0" indent="0" algn="just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0220B-09D5-6AC8-6A01-1463ABD1F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4791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7182</TotalTime>
  <Words>2117</Words>
  <Application>Microsoft Office PowerPoint</Application>
  <PresentationFormat>Widescreen</PresentationFormat>
  <Paragraphs>172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Agency FB</vt:lpstr>
      <vt:lpstr>Arial</vt:lpstr>
      <vt:lpstr>Bradley Hand ITC</vt:lpstr>
      <vt:lpstr>Calibri</vt:lpstr>
      <vt:lpstr>Calibri Light</vt:lpstr>
      <vt:lpstr>Casper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Introduction to Combinatorial Puzzles with Quantum Variational Algorithms</vt:lpstr>
      <vt:lpstr>Problem Formulation</vt:lpstr>
      <vt:lpstr>Objectives of the Work</vt:lpstr>
      <vt:lpstr>Software requirements</vt:lpstr>
      <vt:lpstr>Limitations of existing Quantum Models</vt:lpstr>
      <vt:lpstr>Methodology Used</vt:lpstr>
      <vt:lpstr>Methodology Used</vt:lpstr>
      <vt:lpstr>Literature Review </vt:lpstr>
      <vt:lpstr>Literature Review </vt:lpstr>
      <vt:lpstr>Conclusion</vt:lpstr>
      <vt:lpstr>Future Scope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Ashish Pushkar</cp:lastModifiedBy>
  <cp:revision>504</cp:revision>
  <dcterms:created xsi:type="dcterms:W3CDTF">2019-01-09T10:33:58Z</dcterms:created>
  <dcterms:modified xsi:type="dcterms:W3CDTF">2025-11-08T18:17:05Z</dcterms:modified>
</cp:coreProperties>
</file>